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9"/>
  </p:notesMasterIdLst>
  <p:handoutMasterIdLst>
    <p:handoutMasterId r:id="rId10"/>
  </p:handoutMasterIdLst>
  <p:sldIdLst>
    <p:sldId id="410" r:id="rId5"/>
    <p:sldId id="257" r:id="rId6"/>
    <p:sldId id="415" r:id="rId7"/>
    <p:sldId id="41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36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2026-07-14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2026-07-14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>
            <a:extLst>
              <a:ext uri="{FF2B5EF4-FFF2-40B4-BE49-F238E27FC236}">
                <a16:creationId xmlns:a16="http://schemas.microsoft.com/office/drawing/2014/main" id="{2728B20C-68F5-EFD3-BCA1-C962986DC17B}"/>
              </a:ext>
            </a:extLst>
          </p:cNvPr>
          <p:cNvSpPr/>
          <p:nvPr/>
        </p:nvSpPr>
        <p:spPr>
          <a:xfrm>
            <a:off x="0" y="0"/>
            <a:ext cx="12191996" cy="1028654"/>
          </a:xfrm>
          <a:prstGeom prst="rect">
            <a:avLst/>
          </a:prstGeom>
          <a:solidFill>
            <a:srgbClr val="D9D9D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等线"/>
              <a:ea typeface="等线" pitchFamily="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DD8AAD5C-8517-9994-D7E3-7990C59E3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834" y="19979"/>
            <a:ext cx="8474695" cy="1008665"/>
          </a:xfrm>
        </p:spPr>
        <p:txBody>
          <a:bodyPr anchorCtr="1"/>
          <a:lstStyle>
            <a:lvl1pPr algn="ctr">
              <a:defRPr sz="3200">
                <a:solidFill>
                  <a:srgbClr val="55418F"/>
                </a:solidFill>
                <a:latin typeface="黑体" pitchFamily="49"/>
                <a:ea typeface="黑体" pitchFamily="49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9352690-D226-2452-E364-0F50101ADD5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149739"/>
            <a:ext cx="10515600" cy="4859167"/>
          </a:xfrm>
        </p:spPr>
        <p:txBody>
          <a:bodyPr/>
          <a:lstStyle>
            <a:lvl1pPr>
              <a:lnSpc>
                <a:spcPct val="150000"/>
              </a:lnSpc>
              <a:buFont typeface="Wingdings" pitchFamily="2"/>
              <a:buChar char="q"/>
              <a:defRPr>
                <a:latin typeface="黑体" pitchFamily="49"/>
                <a:ea typeface="黑体" pitchFamily="49"/>
              </a:defRPr>
            </a:lvl1pPr>
            <a:lvl2pPr>
              <a:lnSpc>
                <a:spcPct val="150000"/>
              </a:lnSpc>
              <a:buSzPct val="135000"/>
              <a:buFont typeface="Wingdings" pitchFamily="2"/>
              <a:buChar char="§"/>
              <a:defRPr>
                <a:latin typeface="黑体" pitchFamily="49"/>
                <a:ea typeface="黑体" pitchFamily="49"/>
              </a:defRPr>
            </a:lvl2pPr>
            <a:lvl3pPr>
              <a:lnSpc>
                <a:spcPct val="150000"/>
              </a:lnSpc>
              <a:buFont typeface="Wingdings" pitchFamily="2"/>
              <a:buChar char="Ø"/>
              <a:defRPr>
                <a:latin typeface="黑体" pitchFamily="49"/>
                <a:ea typeface="黑体" pitchFamily="49"/>
              </a:defRPr>
            </a:lvl3pPr>
            <a:lvl4pPr>
              <a:lnSpc>
                <a:spcPct val="150000"/>
              </a:lnSpc>
              <a:buFont typeface="Wingdings" pitchFamily="2"/>
              <a:buChar char="Ø"/>
              <a:defRPr>
                <a:latin typeface="黑体" pitchFamily="49"/>
                <a:ea typeface="黑体" pitchFamily="49"/>
              </a:defRPr>
            </a:lvl4pPr>
            <a:lvl5pPr>
              <a:lnSpc>
                <a:spcPct val="150000"/>
              </a:lnSpc>
              <a:buFont typeface="Wingdings" pitchFamily="2"/>
              <a:buChar char="Ø"/>
              <a:defRPr>
                <a:latin typeface="黑体" pitchFamily="49"/>
                <a:ea typeface="黑体" pitchFamily="49"/>
              </a:defRPr>
            </a:lvl5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3A941FC-D1C6-55CA-BDC6-74AB523DEA4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4BBF06-D04F-48A6-A405-0D83FBE0354D}" type="datetime1">
              <a:rPr lang="en-US"/>
              <a:pPr lvl="0"/>
              <a:t>2026-07-14</a:t>
            </a:fld>
            <a:endParaRPr 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5BBBEDF-727E-D3F9-A3D6-11D2A6DC7B8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80CD52C-5FA2-8DD8-E0BA-DA6E8CFC98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20514" y="6487722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A305BB69-BE26-4AC0-A42C-25F2B727F6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7978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873" y="360218"/>
            <a:ext cx="7953977" cy="2068945"/>
          </a:xfrm>
        </p:spPr>
        <p:txBody>
          <a:bodyPr/>
          <a:lstStyle/>
          <a:p>
            <a:r>
              <a:rPr lang="en-US" sz="5400" dirty="0"/>
              <a:t>Matin Fazel</a:t>
            </a:r>
            <a:br>
              <a:rPr lang="en-US" sz="5400" dirty="0"/>
            </a:br>
            <a:r>
              <a:rPr lang="en-US" sz="1800" dirty="0"/>
              <a:t>M.Sc. Computer Science — </a:t>
            </a:r>
            <a:r>
              <a:rPr lang="en-US" sz="1800" dirty="0">
                <a:solidFill>
                  <a:srgbClr val="0070C0"/>
                </a:solidFill>
              </a:rPr>
              <a:t>Concordia University</a:t>
            </a:r>
            <a:br>
              <a:rPr lang="en-US" sz="5400" dirty="0"/>
            </a:br>
            <a:br>
              <a:rPr lang="en-US" sz="1400" dirty="0"/>
            </a:br>
            <a:r>
              <a:rPr lang="en-US" sz="1400" dirty="0"/>
              <a:t>Researcher in efficient AI systems for real-time multimedia, browser, and mobile deployment.</a:t>
            </a:r>
            <a:br>
              <a:rPr lang="en-US" sz="1400" dirty="0"/>
            </a:br>
            <a:endParaRPr lang="en-US" sz="5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EDF55C-9EC7-8E78-6197-0F8257A35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849582"/>
            <a:ext cx="7416800" cy="408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269AA8A-B432-35AC-5847-691C023A20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D36678A-F6A1-45B4-A0E0-93BDD7932C3D}" type="slidenum">
              <a:rPr lang="en-US">
                <a:latin typeface="Abadi"/>
              </a:rPr>
              <a:t>2</a:t>
            </a:fld>
            <a:endParaRPr lang="en-US">
              <a:latin typeface="Abadi"/>
            </a:endParaRPr>
          </a:p>
        </p:txBody>
      </p:sp>
      <p:sp>
        <p:nvSpPr>
          <p:cNvPr id="3" name="Google Shape;94;p21">
            <a:extLst>
              <a:ext uri="{FF2B5EF4-FFF2-40B4-BE49-F238E27FC236}">
                <a16:creationId xmlns:a16="http://schemas.microsoft.com/office/drawing/2014/main" id="{CBFCE4F0-E226-FA53-AC86-BE872DF10107}"/>
              </a:ext>
            </a:extLst>
          </p:cNvPr>
          <p:cNvSpPr txBox="1"/>
          <p:nvPr/>
        </p:nvSpPr>
        <p:spPr>
          <a:xfrm>
            <a:off x="-9646" y="2468"/>
            <a:ext cx="12191996" cy="977511"/>
          </a:xfrm>
          <a:prstGeom prst="rect">
            <a:avLst/>
          </a:prstGeom>
          <a:solidFill>
            <a:srgbClr val="A61C00"/>
          </a:solidFill>
          <a:ln cap="flat">
            <a:noFill/>
          </a:ln>
          <a:effectLst>
            <a:outerShdw dist="19046" dir="5400000" algn="tl">
              <a:srgbClr val="000000">
                <a:alpha val="50000"/>
              </a:srgbClr>
            </a:outerShdw>
          </a:effectLst>
        </p:spPr>
        <p:txBody>
          <a:bodyPr vert="horz" wrap="square" lIns="121898" tIns="121898" rIns="121898" bIns="121898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CA" sz="2800" b="1" i="0" u="none" strike="noStrike" kern="1200" cap="none" spc="0" baseline="0" dirty="0">
                <a:solidFill>
                  <a:srgbClr val="FFFFFF"/>
                </a:solidFill>
                <a:uFillTx/>
                <a:latin typeface="Abadi"/>
                <a:ea typeface="黑体"/>
              </a:rPr>
              <a:t>VSR-Bench: Browser-Native Real-Time Video Super-Resolution</a:t>
            </a:r>
          </a:p>
        </p:txBody>
      </p:sp>
      <p:sp>
        <p:nvSpPr>
          <p:cNvPr id="4" name="Google Shape;97;p21">
            <a:extLst>
              <a:ext uri="{FF2B5EF4-FFF2-40B4-BE49-F238E27FC236}">
                <a16:creationId xmlns:a16="http://schemas.microsoft.com/office/drawing/2014/main" id="{76537F30-69C7-376E-8941-FCE44CFD20DA}"/>
              </a:ext>
            </a:extLst>
          </p:cNvPr>
          <p:cNvSpPr txBox="1"/>
          <p:nvPr/>
        </p:nvSpPr>
        <p:spPr>
          <a:xfrm>
            <a:off x="-9180" y="6377555"/>
            <a:ext cx="12191996" cy="465475"/>
          </a:xfrm>
          <a:prstGeom prst="rect">
            <a:avLst/>
          </a:prstGeom>
          <a:solidFill>
            <a:srgbClr val="A61C00"/>
          </a:solidFill>
          <a:ln cap="flat">
            <a:noFill/>
          </a:ln>
          <a:effectLst>
            <a:outerShdw dist="19046" dir="5400000" algn="tl">
              <a:srgbClr val="000000">
                <a:alpha val="50000"/>
              </a:srgbClr>
            </a:outerShdw>
          </a:effectLst>
        </p:spPr>
        <p:txBody>
          <a:bodyPr vert="horz" wrap="square" lIns="121898" tIns="121898" rIns="121898" bIns="121898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100" b="0" i="0" u="none" strike="noStrike" kern="1200" cap="none" spc="0" baseline="0" dirty="0">
                <a:solidFill>
                  <a:srgbClr val="FFFFFF"/>
                </a:solidFill>
                <a:uFillTx/>
                <a:latin typeface="Abadi"/>
                <a:ea typeface="Montserrat"/>
                <a:cs typeface="Montserrat"/>
              </a:rPr>
              <a:t>ACM </a:t>
            </a:r>
            <a:r>
              <a:rPr lang="en-GB" sz="2100" b="0" i="0" u="none" strike="noStrike" kern="1200" cap="none" spc="0" baseline="0" dirty="0" err="1">
                <a:solidFill>
                  <a:srgbClr val="FFFFFF"/>
                </a:solidFill>
                <a:uFillTx/>
                <a:latin typeface="Abadi"/>
                <a:ea typeface="Montserrat"/>
                <a:cs typeface="Montserrat"/>
              </a:rPr>
              <a:t>MMSys</a:t>
            </a:r>
            <a:r>
              <a:rPr lang="en-GB" sz="2100" b="0" i="0" u="none" strike="noStrike" kern="1200" cap="none" spc="0" baseline="0" dirty="0">
                <a:solidFill>
                  <a:srgbClr val="FFFFFF"/>
                </a:solidFill>
                <a:uFillTx/>
                <a:latin typeface="Abadi"/>
                <a:ea typeface="Montserrat"/>
                <a:cs typeface="Montserrat"/>
              </a:rPr>
              <a:t> 2026, Hong Kong, Hong Kong</a:t>
            </a:r>
            <a:endParaRPr lang="en-GB" sz="2100" b="0" i="0" u="none" strike="noStrike" kern="1200" cap="none" spc="0" baseline="0" dirty="0">
              <a:solidFill>
                <a:srgbClr val="FFFFFF"/>
              </a:solidFill>
              <a:uFillTx/>
              <a:latin typeface="Abadi"/>
              <a:ea typeface="黑体"/>
              <a:cs typeface="Montserrat"/>
            </a:endParaRPr>
          </a:p>
        </p:txBody>
      </p:sp>
      <p:pic>
        <p:nvPicPr>
          <p:cNvPr id="6" name="Google Shape;96;p21">
            <a:extLst>
              <a:ext uri="{FF2B5EF4-FFF2-40B4-BE49-F238E27FC236}">
                <a16:creationId xmlns:a16="http://schemas.microsoft.com/office/drawing/2014/main" id="{5283AF68-44B4-07A8-5851-FF6E9E40E3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86005"/>
            <a:ext cx="1409181" cy="4519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13" descr="Logo">
            <a:extLst>
              <a:ext uri="{FF2B5EF4-FFF2-40B4-BE49-F238E27FC236}">
                <a16:creationId xmlns:a16="http://schemas.microsoft.com/office/drawing/2014/main" id="{99BDCB3D-BE1E-AA23-42C8-9E3C9CE6F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434" y="6379320"/>
            <a:ext cx="897876" cy="4432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9" descr="A diagram of a computer&#10;&#10;AI-generated content may be incorrect.">
            <a:extLst>
              <a:ext uri="{FF2B5EF4-FFF2-40B4-BE49-F238E27FC236}">
                <a16:creationId xmlns:a16="http://schemas.microsoft.com/office/drawing/2014/main" id="{4E8F7008-BF74-84B5-5CC3-10455C536C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95" t="13333" r="13253" b="13333"/>
          <a:stretch>
            <a:fillRect/>
          </a:stretch>
        </p:blipFill>
        <p:spPr>
          <a:xfrm>
            <a:off x="4474287" y="1463963"/>
            <a:ext cx="1644200" cy="476251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C2EAFD07-507C-77AF-0F04-E5CF5B5D2BBE}"/>
              </a:ext>
            </a:extLst>
          </p:cNvPr>
          <p:cNvSpPr/>
          <p:nvPr/>
        </p:nvSpPr>
        <p:spPr>
          <a:xfrm>
            <a:off x="4403082" y="1140659"/>
            <a:ext cx="1833710" cy="5132856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9AB1EC70-D369-3F2F-ECD8-28DCA40DDFDC}"/>
              </a:ext>
            </a:extLst>
          </p:cNvPr>
          <p:cNvSpPr txBox="1"/>
          <p:nvPr/>
        </p:nvSpPr>
        <p:spPr>
          <a:xfrm>
            <a:off x="4399845" y="1138235"/>
            <a:ext cx="182630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Architecture 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Abadi"/>
            </a:endParaRP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9C9E2D52-88DE-0227-BA36-E48A9E8A3457}"/>
              </a:ext>
            </a:extLst>
          </p:cNvPr>
          <p:cNvSpPr/>
          <p:nvPr/>
        </p:nvSpPr>
        <p:spPr>
          <a:xfrm>
            <a:off x="136666" y="1134413"/>
            <a:ext cx="4143759" cy="5139101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6469CDFB-E353-C653-5D1F-09E9254A3A99}"/>
              </a:ext>
            </a:extLst>
          </p:cNvPr>
          <p:cNvSpPr/>
          <p:nvPr/>
        </p:nvSpPr>
        <p:spPr>
          <a:xfrm>
            <a:off x="6377875" y="1140659"/>
            <a:ext cx="5674318" cy="5132856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C23C52E7-C9E9-6A05-817A-7CD1EE8F7AE6}"/>
              </a:ext>
            </a:extLst>
          </p:cNvPr>
          <p:cNvSpPr txBox="1"/>
          <p:nvPr/>
        </p:nvSpPr>
        <p:spPr>
          <a:xfrm>
            <a:off x="888284" y="1131990"/>
            <a:ext cx="2645569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Platform Overview</a:t>
            </a:r>
            <a:endParaRPr lang="en-US" sz="2000" b="1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等线"/>
            </a:endParaRPr>
          </a:p>
        </p:txBody>
      </p:sp>
      <p:pic>
        <p:nvPicPr>
          <p:cNvPr id="14" name="Picture 27">
            <a:extLst>
              <a:ext uri="{FF2B5EF4-FFF2-40B4-BE49-F238E27FC236}">
                <a16:creationId xmlns:a16="http://schemas.microsoft.com/office/drawing/2014/main" id="{949803EF-342D-7978-6716-3CF85C4D1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257" y="2045531"/>
            <a:ext cx="771525" cy="6572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Picture 28">
            <a:extLst>
              <a:ext uri="{FF2B5EF4-FFF2-40B4-BE49-F238E27FC236}">
                <a16:creationId xmlns:a16="http://schemas.microsoft.com/office/drawing/2014/main" id="{A5751212-80FE-2C6C-A205-FC5230295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918" y="3560161"/>
            <a:ext cx="866778" cy="8382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Picture 29">
            <a:extLst>
              <a:ext uri="{FF2B5EF4-FFF2-40B4-BE49-F238E27FC236}">
                <a16:creationId xmlns:a16="http://schemas.microsoft.com/office/drawing/2014/main" id="{72F786CA-37C3-9D96-83CB-AB5712EE90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437" y="4876175"/>
            <a:ext cx="971550" cy="98107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TextBox 30">
            <a:extLst>
              <a:ext uri="{FF2B5EF4-FFF2-40B4-BE49-F238E27FC236}">
                <a16:creationId xmlns:a16="http://schemas.microsoft.com/office/drawing/2014/main" id="{EACCB6AF-F942-9C08-7966-B5A933F0C9B1}"/>
              </a:ext>
            </a:extLst>
          </p:cNvPr>
          <p:cNvSpPr txBox="1"/>
          <p:nvPr/>
        </p:nvSpPr>
        <p:spPr>
          <a:xfrm>
            <a:off x="1091647" y="1617765"/>
            <a:ext cx="3310256" cy="1323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The Problem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Arial"/>
              </a:rPr>
              <a:t>Strict Latency constraint in RTC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Lack Of SR-Bench in RTC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Deep VSR is too heavy for RTC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等线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-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Latency</a:t>
            </a:r>
            <a:r>
              <a: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 </a:t>
            </a:r>
            <a:r>
              <a: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 + Quality trade-offs</a:t>
            </a:r>
          </a:p>
        </p:txBody>
      </p:sp>
      <p:sp>
        <p:nvSpPr>
          <p:cNvPr id="18" name="TextBox 31">
            <a:extLst>
              <a:ext uri="{FF2B5EF4-FFF2-40B4-BE49-F238E27FC236}">
                <a16:creationId xmlns:a16="http://schemas.microsoft.com/office/drawing/2014/main" id="{B885AA9A-9B72-00BB-60B9-9F50EC0BAF2A}"/>
              </a:ext>
            </a:extLst>
          </p:cNvPr>
          <p:cNvSpPr txBox="1"/>
          <p:nvPr/>
        </p:nvSpPr>
        <p:spPr>
          <a:xfrm>
            <a:off x="1093119" y="3428606"/>
            <a:ext cx="3003547" cy="1077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The Solution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VSR-Bench is the first browser-native benchmark for efficient SR over WebRTC pipelines.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等线"/>
              <a:cs typeface="等线"/>
            </a:endParaRP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121FBBA6-873E-3772-5C02-930BD5DDE914}"/>
              </a:ext>
            </a:extLst>
          </p:cNvPr>
          <p:cNvSpPr txBox="1"/>
          <p:nvPr/>
        </p:nvSpPr>
        <p:spPr>
          <a:xfrm>
            <a:off x="1220449" y="4977710"/>
            <a:ext cx="2922907" cy="1077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The Capabilities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badi"/>
                <a:ea typeface="等线"/>
                <a:cs typeface="等线"/>
              </a:rPr>
              <a:t>Evaluates SISR models (plug-and-play) across quality–latency trade-offs.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badi"/>
              <a:ea typeface="等线"/>
              <a:cs typeface="等线"/>
            </a:endParaRPr>
          </a:p>
        </p:txBody>
      </p:sp>
      <p:sp>
        <p:nvSpPr>
          <p:cNvPr id="20" name="TextBox 35">
            <a:extLst>
              <a:ext uri="{FF2B5EF4-FFF2-40B4-BE49-F238E27FC236}">
                <a16:creationId xmlns:a16="http://schemas.microsoft.com/office/drawing/2014/main" id="{BB24B616-BCC4-CE09-5DEE-E49092A04E58}"/>
              </a:ext>
            </a:extLst>
          </p:cNvPr>
          <p:cNvSpPr txBox="1"/>
          <p:nvPr/>
        </p:nvSpPr>
        <p:spPr>
          <a:xfrm>
            <a:off x="6461232" y="1139132"/>
            <a:ext cx="5543623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The </a:t>
            </a:r>
            <a:r>
              <a:rPr lang="en-US" sz="2000" b="1" i="0" u="none" strike="noStrike" kern="1200" cap="none" spc="0" baseline="0" dirty="0" err="1">
                <a:solidFill>
                  <a:srgbClr val="000000"/>
                </a:solidFill>
                <a:uFillTx/>
                <a:latin typeface="Abadi"/>
                <a:ea typeface="等线"/>
              </a:rPr>
              <a:t>WebGPU</a:t>
            </a: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 Advantage</a:t>
            </a:r>
          </a:p>
        </p:txBody>
      </p:sp>
      <p:sp>
        <p:nvSpPr>
          <p:cNvPr id="21" name="TextBox 43">
            <a:extLst>
              <a:ext uri="{FF2B5EF4-FFF2-40B4-BE49-F238E27FC236}">
                <a16:creationId xmlns:a16="http://schemas.microsoft.com/office/drawing/2014/main" id="{DDA15E98-A0E3-0601-82EF-7C2ED1CB0B7E}"/>
              </a:ext>
            </a:extLst>
          </p:cNvPr>
          <p:cNvSpPr txBox="1"/>
          <p:nvPr/>
        </p:nvSpPr>
        <p:spPr>
          <a:xfrm>
            <a:off x="8705965" y="4305223"/>
            <a:ext cx="2176464" cy="3231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1" i="0" u="none" strike="noStrike" kern="1200" cap="none" spc="0" baseline="0">
              <a:solidFill>
                <a:srgbClr val="000000"/>
              </a:solidFill>
              <a:uFillTx/>
              <a:latin typeface="Abadi"/>
              <a:ea typeface="等线"/>
            </a:endParaRPr>
          </a:p>
        </p:txBody>
      </p:sp>
      <p:sp>
        <p:nvSpPr>
          <p:cNvPr id="22" name="TextBox 46">
            <a:extLst>
              <a:ext uri="{FF2B5EF4-FFF2-40B4-BE49-F238E27FC236}">
                <a16:creationId xmlns:a16="http://schemas.microsoft.com/office/drawing/2014/main" id="{5ED248E5-CEE2-7CB5-AACA-D79323840288}"/>
              </a:ext>
            </a:extLst>
          </p:cNvPr>
          <p:cNvSpPr txBox="1"/>
          <p:nvPr/>
        </p:nvSpPr>
        <p:spPr>
          <a:xfrm>
            <a:off x="8689598" y="4215210"/>
            <a:ext cx="168815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badi"/>
              <a:ea typeface="等线"/>
            </a:endParaRPr>
          </a:p>
        </p:txBody>
      </p:sp>
      <p:pic>
        <p:nvPicPr>
          <p:cNvPr id="23" name="Picture 1" descr="A red line with black text&#10;&#10;AI-generated content may be incorrect.">
            <a:extLst>
              <a:ext uri="{FF2B5EF4-FFF2-40B4-BE49-F238E27FC236}">
                <a16:creationId xmlns:a16="http://schemas.microsoft.com/office/drawing/2014/main" id="{A4E2F2A2-D910-3EA2-E55E-D9A8FDA1A1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763" y="1622136"/>
            <a:ext cx="5496558" cy="25977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2" descr="A diagram of a graphing process&#10;&#10;AI-generated content may be incorrect.">
            <a:extLst>
              <a:ext uri="{FF2B5EF4-FFF2-40B4-BE49-F238E27FC236}">
                <a16:creationId xmlns:a16="http://schemas.microsoft.com/office/drawing/2014/main" id="{54EB3419-6A9D-5D4C-4BF8-C01AAD0164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922" y="4306183"/>
            <a:ext cx="3322316" cy="181179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7" descr="A qr code on a black background&#10;&#10;AI-generated content may be incorrect.">
            <a:extLst>
              <a:ext uri="{FF2B5EF4-FFF2-40B4-BE49-F238E27FC236}">
                <a16:creationId xmlns:a16="http://schemas.microsoft.com/office/drawing/2014/main" id="{5FD8D246-1600-8122-9C51-8045B275FE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7275" y="4523975"/>
            <a:ext cx="1115577" cy="138135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EDF9-25B9-1B2A-F790-D88E26DE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17FB60B-BC06-B96E-07EC-3FDEAA5DAF7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D36678A-F6A1-45B4-A0E0-93BDD7932C3D}" type="slidenum">
              <a:rPr lang="en-US">
                <a:latin typeface="Abadi"/>
              </a:rPr>
              <a:t>3</a:t>
            </a:fld>
            <a:endParaRPr lang="en-US">
              <a:latin typeface="Abadi"/>
            </a:endParaRPr>
          </a:p>
        </p:txBody>
      </p:sp>
      <p:sp>
        <p:nvSpPr>
          <p:cNvPr id="3" name="Google Shape;94;p21">
            <a:extLst>
              <a:ext uri="{FF2B5EF4-FFF2-40B4-BE49-F238E27FC236}">
                <a16:creationId xmlns:a16="http://schemas.microsoft.com/office/drawing/2014/main" id="{410FD3E7-56E0-B1E6-F29E-A5D72F1D3860}"/>
              </a:ext>
            </a:extLst>
          </p:cNvPr>
          <p:cNvSpPr txBox="1"/>
          <p:nvPr/>
        </p:nvSpPr>
        <p:spPr>
          <a:xfrm>
            <a:off x="-9646" y="2468"/>
            <a:ext cx="12191996" cy="977511"/>
          </a:xfrm>
          <a:prstGeom prst="rect">
            <a:avLst/>
          </a:prstGeom>
          <a:solidFill>
            <a:srgbClr val="A61C00"/>
          </a:solidFill>
          <a:ln cap="flat">
            <a:noFill/>
          </a:ln>
          <a:effectLst>
            <a:outerShdw dist="19046" dir="5400000" algn="tl">
              <a:srgbClr val="000000">
                <a:alpha val="50000"/>
              </a:srgbClr>
            </a:outerShdw>
          </a:effectLst>
        </p:spPr>
        <p:txBody>
          <a:bodyPr vert="horz" wrap="square" lIns="121898" tIns="121898" rIns="121898" bIns="121898" anchor="b" anchorCtr="1" compatLnSpc="1">
            <a:noAutofit/>
          </a:bodyPr>
          <a:lstStyle/>
          <a:p>
            <a:pPr lvl="0" algn="ctr">
              <a:lnSpc>
                <a:spcPct val="9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rgbClr val="FFFFFF"/>
                </a:solidFill>
                <a:latin typeface="Abadi"/>
                <a:ea typeface="黑体"/>
              </a:rPr>
              <a:t>RFDN-SPAN: Lightweight Parameter-Free Attention for Efficient Super-Resolution</a:t>
            </a:r>
            <a:endParaRPr lang="en-CA" sz="2400" b="1" i="0" u="none" strike="noStrike" kern="1200" cap="none" spc="0" baseline="0" dirty="0">
              <a:solidFill>
                <a:srgbClr val="FFFFFF"/>
              </a:solidFill>
              <a:uFillTx/>
              <a:latin typeface="Abadi"/>
              <a:ea typeface="黑体"/>
            </a:endParaRPr>
          </a:p>
        </p:txBody>
      </p:sp>
      <p:pic>
        <p:nvPicPr>
          <p:cNvPr id="7" name="Picture 13" descr="Logo">
            <a:extLst>
              <a:ext uri="{FF2B5EF4-FFF2-40B4-BE49-F238E27FC236}">
                <a16:creationId xmlns:a16="http://schemas.microsoft.com/office/drawing/2014/main" id="{09C81911-C90A-D31C-89EB-ED5E48B3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434" y="6379320"/>
            <a:ext cx="897876" cy="44323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3">
            <a:extLst>
              <a:ext uri="{FF2B5EF4-FFF2-40B4-BE49-F238E27FC236}">
                <a16:creationId xmlns:a16="http://schemas.microsoft.com/office/drawing/2014/main" id="{935E7BAC-E47E-2265-8CEB-169F15728175}"/>
              </a:ext>
            </a:extLst>
          </p:cNvPr>
          <p:cNvSpPr txBox="1"/>
          <p:nvPr/>
        </p:nvSpPr>
        <p:spPr>
          <a:xfrm>
            <a:off x="8705965" y="4305223"/>
            <a:ext cx="2176464" cy="3231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1" i="0" u="none" strike="noStrike" kern="1200" cap="none" spc="0" baseline="0">
              <a:solidFill>
                <a:srgbClr val="000000"/>
              </a:solidFill>
              <a:uFillTx/>
              <a:latin typeface="Abadi"/>
              <a:ea typeface="等线"/>
            </a:endParaRPr>
          </a:p>
        </p:txBody>
      </p:sp>
      <p:sp>
        <p:nvSpPr>
          <p:cNvPr id="22" name="TextBox 46">
            <a:extLst>
              <a:ext uri="{FF2B5EF4-FFF2-40B4-BE49-F238E27FC236}">
                <a16:creationId xmlns:a16="http://schemas.microsoft.com/office/drawing/2014/main" id="{2D409C79-C0A7-DC39-ABD6-8F7BF98D26D9}"/>
              </a:ext>
            </a:extLst>
          </p:cNvPr>
          <p:cNvSpPr txBox="1"/>
          <p:nvPr/>
        </p:nvSpPr>
        <p:spPr>
          <a:xfrm>
            <a:off x="8689598" y="4215210"/>
            <a:ext cx="168815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badi"/>
              <a:ea typeface="等线"/>
            </a:endParaRPr>
          </a:p>
        </p:txBody>
      </p:sp>
      <p:sp>
        <p:nvSpPr>
          <p:cNvPr id="8" name="Google Shape;97;p21">
            <a:extLst>
              <a:ext uri="{FF2B5EF4-FFF2-40B4-BE49-F238E27FC236}">
                <a16:creationId xmlns:a16="http://schemas.microsoft.com/office/drawing/2014/main" id="{AB0E0617-0B57-C8E9-52CC-678EAF41ACA4}"/>
              </a:ext>
            </a:extLst>
          </p:cNvPr>
          <p:cNvSpPr txBox="1"/>
          <p:nvPr/>
        </p:nvSpPr>
        <p:spPr>
          <a:xfrm>
            <a:off x="-9180" y="6377555"/>
            <a:ext cx="12191996" cy="465475"/>
          </a:xfrm>
          <a:prstGeom prst="rect">
            <a:avLst/>
          </a:prstGeom>
          <a:solidFill>
            <a:srgbClr val="A61C00"/>
          </a:solidFill>
          <a:ln cap="flat">
            <a:noFill/>
          </a:ln>
          <a:effectLst>
            <a:outerShdw dist="19046" dir="5400000" algn="tl">
              <a:srgbClr val="000000">
                <a:alpha val="50000"/>
              </a:srgbClr>
            </a:outerShdw>
          </a:effectLst>
        </p:spPr>
        <p:txBody>
          <a:bodyPr vert="horz" wrap="square" lIns="121898" tIns="121898" rIns="121898" bIns="121898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100" dirty="0">
                <a:solidFill>
                  <a:srgbClr val="FFFFFF"/>
                </a:solidFill>
                <a:latin typeface="Abadi"/>
                <a:ea typeface="Montserrat"/>
                <a:cs typeface="Montserrat"/>
              </a:rPr>
              <a:t>NTIRE 2026 Efficient Super-Resolution Challenge at CVPR 2026 NTIRE Workshop</a:t>
            </a:r>
            <a:endParaRPr lang="en-GB" sz="2100" b="0" i="0" u="none" strike="noStrike" kern="1200" cap="none" spc="0" baseline="0" dirty="0">
              <a:solidFill>
                <a:srgbClr val="FFFFFF"/>
              </a:solidFill>
              <a:uFillTx/>
              <a:latin typeface="Abadi"/>
              <a:ea typeface="黑体"/>
              <a:cs typeface="Montserra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78A5E6-3595-C5F8-874E-0B2B63D7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19" y="6379957"/>
            <a:ext cx="1408298" cy="45114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5027321-4F4A-EF38-9590-92AEF008E1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542"/>
          <a:stretch>
            <a:fillRect/>
          </a:stretch>
        </p:blipFill>
        <p:spPr>
          <a:xfrm>
            <a:off x="4558482" y="1311803"/>
            <a:ext cx="3095203" cy="492859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FB89EF4-0363-0F5E-4524-9E466D10CB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38" t="5064" r="3978" b="1900"/>
          <a:stretch>
            <a:fillRect/>
          </a:stretch>
        </p:blipFill>
        <p:spPr>
          <a:xfrm>
            <a:off x="8824126" y="1351058"/>
            <a:ext cx="2359153" cy="4803618"/>
          </a:xfrm>
          <a:prstGeom prst="rect">
            <a:avLst/>
          </a:prstGeom>
        </p:spPr>
      </p:pic>
      <p:sp>
        <p:nvSpPr>
          <p:cNvPr id="47" name="AutoShape 9">
            <a:extLst>
              <a:ext uri="{FF2B5EF4-FFF2-40B4-BE49-F238E27FC236}">
                <a16:creationId xmlns:a16="http://schemas.microsoft.com/office/drawing/2014/main" id="{EDC7BE8F-0436-F17B-14A5-AB57A9930A50}"/>
              </a:ext>
            </a:extLst>
          </p:cNvPr>
          <p:cNvSpPr/>
          <p:nvPr/>
        </p:nvSpPr>
        <p:spPr>
          <a:xfrm>
            <a:off x="4381416" y="1128248"/>
            <a:ext cx="3449335" cy="5132856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sp>
        <p:nvSpPr>
          <p:cNvPr id="48" name="AutoShape 9">
            <a:extLst>
              <a:ext uri="{FF2B5EF4-FFF2-40B4-BE49-F238E27FC236}">
                <a16:creationId xmlns:a16="http://schemas.microsoft.com/office/drawing/2014/main" id="{C49A0D76-C4ED-5E73-F537-BA4DA91E5F4D}"/>
              </a:ext>
            </a:extLst>
          </p:cNvPr>
          <p:cNvSpPr/>
          <p:nvPr/>
        </p:nvSpPr>
        <p:spPr>
          <a:xfrm>
            <a:off x="8279037" y="1130630"/>
            <a:ext cx="3449335" cy="5132856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12DB4161-B8E5-01D2-BCBD-863A51D0CE69}"/>
              </a:ext>
            </a:extLst>
          </p:cNvPr>
          <p:cNvSpPr txBox="1"/>
          <p:nvPr/>
        </p:nvSpPr>
        <p:spPr>
          <a:xfrm>
            <a:off x="5192932" y="1163534"/>
            <a:ext cx="182630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Architecture</a:t>
            </a:r>
            <a:r>
              <a:rPr lang="en-US" sz="1800" b="1" i="0" u="none" strike="noStrike" kern="1200" cap="none" spc="0" baseline="0" dirty="0">
                <a:solidFill>
                  <a:srgbClr val="000000"/>
                </a:solidFill>
                <a:highlight>
                  <a:srgbClr val="FFFF00"/>
                </a:highlight>
                <a:uFillTx/>
                <a:latin typeface="Abadi"/>
                <a:ea typeface="等线"/>
              </a:rPr>
              <a:t> 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highlight>
                <a:srgbClr val="FFFF00"/>
              </a:highlight>
              <a:uFillTx/>
              <a:latin typeface="Abadi"/>
            </a:endParaRPr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51611238-007B-292B-5633-DB62DB79184A}"/>
              </a:ext>
            </a:extLst>
          </p:cNvPr>
          <p:cNvSpPr txBox="1"/>
          <p:nvPr/>
        </p:nvSpPr>
        <p:spPr>
          <a:xfrm>
            <a:off x="9090550" y="1108118"/>
            <a:ext cx="182630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Results</a:t>
            </a:r>
            <a:r>
              <a:rPr lang="en-US" sz="1800" b="1" i="0" u="none" strike="noStrike" kern="1200" cap="none" spc="0" baseline="0" dirty="0">
                <a:solidFill>
                  <a:srgbClr val="000000"/>
                </a:solidFill>
                <a:highlight>
                  <a:srgbClr val="FFFF00"/>
                </a:highlight>
                <a:uFillTx/>
                <a:latin typeface="Abadi"/>
                <a:ea typeface="等线"/>
              </a:rPr>
              <a:t> 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highlight>
                <a:srgbClr val="FFFF00"/>
              </a:highlight>
              <a:uFillTx/>
              <a:latin typeface="Abad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9B2E4E-E4ED-BA7A-FE3F-7DB73462BC5C}"/>
              </a:ext>
            </a:extLst>
          </p:cNvPr>
          <p:cNvSpPr txBox="1"/>
          <p:nvPr/>
        </p:nvSpPr>
        <p:spPr>
          <a:xfrm>
            <a:off x="3029674" y="3293526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a-IR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A6BE7BF-857C-7CDC-1ACE-8F1ECE8F4A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737" b="7321"/>
          <a:stretch>
            <a:fillRect/>
          </a:stretch>
        </p:blipFill>
        <p:spPr>
          <a:xfrm>
            <a:off x="848699" y="1487899"/>
            <a:ext cx="2684672" cy="4576404"/>
          </a:xfrm>
          <a:prstGeom prst="rect">
            <a:avLst/>
          </a:prstGeom>
        </p:spPr>
      </p:pic>
      <p:sp>
        <p:nvSpPr>
          <p:cNvPr id="56" name="AutoShape 9">
            <a:extLst>
              <a:ext uri="{FF2B5EF4-FFF2-40B4-BE49-F238E27FC236}">
                <a16:creationId xmlns:a16="http://schemas.microsoft.com/office/drawing/2014/main" id="{F3FA436F-6810-9F97-EB3F-1738BE8C6DF1}"/>
              </a:ext>
            </a:extLst>
          </p:cNvPr>
          <p:cNvSpPr/>
          <p:nvPr/>
        </p:nvSpPr>
        <p:spPr>
          <a:xfrm>
            <a:off x="483796" y="1107543"/>
            <a:ext cx="3449335" cy="5132856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sp>
        <p:nvSpPr>
          <p:cNvPr id="4" name="TextBox 25">
            <a:extLst>
              <a:ext uri="{FF2B5EF4-FFF2-40B4-BE49-F238E27FC236}">
                <a16:creationId xmlns:a16="http://schemas.microsoft.com/office/drawing/2014/main" id="{7C6C6FD1-4D71-CBFC-ACF7-719AE7C3F82F}"/>
              </a:ext>
            </a:extLst>
          </p:cNvPr>
          <p:cNvSpPr txBox="1"/>
          <p:nvPr/>
        </p:nvSpPr>
        <p:spPr>
          <a:xfrm>
            <a:off x="888284" y="1131990"/>
            <a:ext cx="2645569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259445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FCCF-6B47-DD8D-F85A-07E1C2C1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284647-F716-8A11-13C9-C7DDD84C2C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D36678A-F6A1-45B4-A0E0-93BDD7932C3D}" type="slidenum">
              <a:rPr lang="en-US">
                <a:latin typeface="Abadi"/>
              </a:rPr>
              <a:t>4</a:t>
            </a:fld>
            <a:endParaRPr lang="en-US">
              <a:latin typeface="Abadi"/>
            </a:endParaRPr>
          </a:p>
        </p:txBody>
      </p:sp>
      <p:sp>
        <p:nvSpPr>
          <p:cNvPr id="3" name="Google Shape;94;p21">
            <a:extLst>
              <a:ext uri="{FF2B5EF4-FFF2-40B4-BE49-F238E27FC236}">
                <a16:creationId xmlns:a16="http://schemas.microsoft.com/office/drawing/2014/main" id="{8A94B15F-C2B4-6C2F-EFDF-7753EA146C60}"/>
              </a:ext>
            </a:extLst>
          </p:cNvPr>
          <p:cNvSpPr txBox="1"/>
          <p:nvPr/>
        </p:nvSpPr>
        <p:spPr>
          <a:xfrm>
            <a:off x="-9646" y="2468"/>
            <a:ext cx="12191996" cy="977511"/>
          </a:xfrm>
          <a:prstGeom prst="rect">
            <a:avLst/>
          </a:prstGeom>
          <a:solidFill>
            <a:srgbClr val="A61C00"/>
          </a:solidFill>
          <a:ln cap="flat">
            <a:noFill/>
          </a:ln>
          <a:effectLst>
            <a:outerShdw dist="19046" dir="5400000" algn="tl">
              <a:srgbClr val="000000">
                <a:alpha val="50000"/>
              </a:srgbClr>
            </a:outerShdw>
          </a:effectLst>
        </p:spPr>
        <p:txBody>
          <a:bodyPr vert="horz" wrap="square" lIns="121898" tIns="121898" rIns="121898" bIns="121898" anchor="b" anchorCtr="1" compatLnSpc="1">
            <a:noAutofit/>
          </a:bodyPr>
          <a:lstStyle/>
          <a:p>
            <a:pPr lvl="0" algn="ctr">
              <a:lnSpc>
                <a:spcPct val="9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rgbClr val="FFFFFF"/>
                </a:solidFill>
                <a:latin typeface="Abadi"/>
                <a:ea typeface="黑体"/>
              </a:rPr>
              <a:t>APBN Plus: Lightweight </a:t>
            </a:r>
            <a:r>
              <a:rPr lang="en-US" sz="2400" b="1" dirty="0" err="1">
                <a:solidFill>
                  <a:srgbClr val="FFFFFF"/>
                </a:solidFill>
                <a:latin typeface="Abadi"/>
                <a:ea typeface="黑体"/>
              </a:rPr>
              <a:t>BSConv</a:t>
            </a:r>
            <a:r>
              <a:rPr lang="en-US" sz="2400" b="1" dirty="0">
                <a:solidFill>
                  <a:srgbClr val="FFFFFF"/>
                </a:solidFill>
                <a:latin typeface="Abadi"/>
                <a:ea typeface="黑体"/>
              </a:rPr>
              <a:t>-based SR architecture for mobile developments</a:t>
            </a:r>
            <a:endParaRPr lang="en-CA" sz="2400" b="1" i="0" u="none" strike="noStrike" kern="1200" cap="none" spc="0" baseline="0" dirty="0">
              <a:solidFill>
                <a:srgbClr val="FFFFFF"/>
              </a:solidFill>
              <a:uFillTx/>
              <a:latin typeface="Abadi"/>
              <a:ea typeface="黑体"/>
            </a:endParaRPr>
          </a:p>
        </p:txBody>
      </p:sp>
      <p:pic>
        <p:nvPicPr>
          <p:cNvPr id="7" name="Picture 13" descr="Logo">
            <a:extLst>
              <a:ext uri="{FF2B5EF4-FFF2-40B4-BE49-F238E27FC236}">
                <a16:creationId xmlns:a16="http://schemas.microsoft.com/office/drawing/2014/main" id="{9ED3BD02-6310-A229-E503-30B567E1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434" y="6379320"/>
            <a:ext cx="897876" cy="44323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Google Shape;97;p21">
            <a:extLst>
              <a:ext uri="{FF2B5EF4-FFF2-40B4-BE49-F238E27FC236}">
                <a16:creationId xmlns:a16="http://schemas.microsoft.com/office/drawing/2014/main" id="{B2F74788-60AA-AB51-BDFB-0CE2E9E3FC24}"/>
              </a:ext>
            </a:extLst>
          </p:cNvPr>
          <p:cNvSpPr txBox="1"/>
          <p:nvPr/>
        </p:nvSpPr>
        <p:spPr>
          <a:xfrm>
            <a:off x="-9180" y="6377555"/>
            <a:ext cx="12191996" cy="465475"/>
          </a:xfrm>
          <a:prstGeom prst="rect">
            <a:avLst/>
          </a:prstGeom>
          <a:solidFill>
            <a:srgbClr val="A61C00"/>
          </a:solidFill>
          <a:ln cap="flat">
            <a:noFill/>
          </a:ln>
          <a:effectLst>
            <a:outerShdw dist="19046" dir="5400000" algn="tl">
              <a:srgbClr val="000000">
                <a:alpha val="50000"/>
              </a:srgbClr>
            </a:outerShdw>
          </a:effectLst>
        </p:spPr>
        <p:txBody>
          <a:bodyPr vert="horz" wrap="square" lIns="121898" tIns="121898" rIns="121898" bIns="121898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"/>
                <a:ea typeface="Montserrat"/>
                <a:cs typeface="Montserrat"/>
              </a:rPr>
              <a:t>4K Quantized Image Super-Resolution 2026 Challenge at CVPR 2026 Workshop</a:t>
            </a:r>
            <a:endParaRPr lang="en-GB" sz="1600" b="0" i="0" u="none" strike="noStrike" kern="1200" cap="none" spc="0" baseline="0" dirty="0">
              <a:solidFill>
                <a:srgbClr val="FFFFFF"/>
              </a:solidFill>
              <a:uFillTx/>
              <a:latin typeface="Abadi"/>
              <a:ea typeface="黑体"/>
              <a:cs typeface="Montserra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8F60FC-B080-9B82-F368-8DBA1F20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19" y="6379957"/>
            <a:ext cx="1408298" cy="451143"/>
          </a:xfrm>
          <a:prstGeom prst="rect">
            <a:avLst/>
          </a:prstGeom>
        </p:spPr>
      </p:pic>
      <p:sp>
        <p:nvSpPr>
          <p:cNvPr id="56" name="AutoShape 9">
            <a:extLst>
              <a:ext uri="{FF2B5EF4-FFF2-40B4-BE49-F238E27FC236}">
                <a16:creationId xmlns:a16="http://schemas.microsoft.com/office/drawing/2014/main" id="{D401D759-9D60-AF0F-F583-869596823ECE}"/>
              </a:ext>
            </a:extLst>
          </p:cNvPr>
          <p:cNvSpPr/>
          <p:nvPr/>
        </p:nvSpPr>
        <p:spPr>
          <a:xfrm>
            <a:off x="137483" y="1085435"/>
            <a:ext cx="5432044" cy="3033983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DCABDC-A5D4-8162-A362-14F51F375A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16" t="12663" r="2138" b="8794"/>
          <a:stretch>
            <a:fillRect/>
          </a:stretch>
        </p:blipFill>
        <p:spPr>
          <a:xfrm>
            <a:off x="584823" y="1840991"/>
            <a:ext cx="4537364" cy="2133601"/>
          </a:xfrm>
          <a:prstGeom prst="rect">
            <a:avLst/>
          </a:prstGeom>
        </p:spPr>
      </p:pic>
      <p:sp>
        <p:nvSpPr>
          <p:cNvPr id="12" name="TextBox 25">
            <a:extLst>
              <a:ext uri="{FF2B5EF4-FFF2-40B4-BE49-F238E27FC236}">
                <a16:creationId xmlns:a16="http://schemas.microsoft.com/office/drawing/2014/main" id="{38B2C53D-50B5-2FF0-67B8-87079197BEE5}"/>
              </a:ext>
            </a:extLst>
          </p:cNvPr>
          <p:cNvSpPr txBox="1"/>
          <p:nvPr/>
        </p:nvSpPr>
        <p:spPr>
          <a:xfrm>
            <a:off x="1530720" y="1319061"/>
            <a:ext cx="2645569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Contributions</a:t>
            </a:r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363E9F05-1DAE-B27B-6C8A-2B859ECCB337}"/>
              </a:ext>
            </a:extLst>
          </p:cNvPr>
          <p:cNvSpPr/>
          <p:nvPr/>
        </p:nvSpPr>
        <p:spPr>
          <a:xfrm>
            <a:off x="5697322" y="1059954"/>
            <a:ext cx="6220340" cy="3059464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0F62E3-BFFD-E9E2-CCBB-20C0D7D037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73" t="17583" r="1702" b="4631"/>
          <a:stretch>
            <a:fillRect/>
          </a:stretch>
        </p:blipFill>
        <p:spPr>
          <a:xfrm>
            <a:off x="6179746" y="1540398"/>
            <a:ext cx="5255492" cy="2466110"/>
          </a:xfrm>
          <a:prstGeom prst="rect">
            <a:avLst/>
          </a:prstGeom>
        </p:spPr>
      </p:pic>
      <p:sp>
        <p:nvSpPr>
          <p:cNvPr id="19" name="TextBox 25">
            <a:extLst>
              <a:ext uri="{FF2B5EF4-FFF2-40B4-BE49-F238E27FC236}">
                <a16:creationId xmlns:a16="http://schemas.microsoft.com/office/drawing/2014/main" id="{E7507DFB-70D0-E888-1029-281399E325C7}"/>
              </a:ext>
            </a:extLst>
          </p:cNvPr>
          <p:cNvSpPr txBox="1"/>
          <p:nvPr/>
        </p:nvSpPr>
        <p:spPr>
          <a:xfrm>
            <a:off x="7505748" y="1123460"/>
            <a:ext cx="2645569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  <a:ea typeface="等线"/>
              </a:rPr>
              <a:t>Architecture</a:t>
            </a: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EF9A6233-6131-5CDE-A5EE-A833185D5BBD}"/>
              </a:ext>
            </a:extLst>
          </p:cNvPr>
          <p:cNvSpPr/>
          <p:nvPr/>
        </p:nvSpPr>
        <p:spPr>
          <a:xfrm>
            <a:off x="137483" y="4241234"/>
            <a:ext cx="11780179" cy="2023411"/>
          </a:xfrm>
          <a:custGeom>
            <a:avLst>
              <a:gd name="f0" fmla="val 11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A31F34"/>
            </a:solidFill>
            <a:custDash>
              <a:ds d="100000" sp="100000"/>
            </a:custDash>
            <a:round/>
          </a:ln>
        </p:spPr>
        <p:txBody>
          <a:bodyPr vert="horz" wrap="square" lIns="63093" tIns="31546" rIns="63093" bIns="31546" anchor="t" anchorCtr="0" compatLnSpc="1">
            <a:noAutofit/>
          </a:bodyPr>
          <a:lstStyle/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	</a:t>
            </a:r>
          </a:p>
          <a:p>
            <a:pPr marL="342900" marR="0" lvl="0" indent="-342900" algn="l" defTabSz="2953146" rtl="0" fontAlgn="ctr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 dirty="0">
                <a:solidFill>
                  <a:srgbClr val="000000"/>
                </a:solidFill>
                <a:uFillTx/>
                <a:latin typeface="Abadi"/>
              </a:rPr>
              <a:t>   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  <a:latin typeface="Abadi"/>
              <a:ea typeface="宋体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F9BA8-B85F-8894-62E0-6559E02F8B23}"/>
              </a:ext>
            </a:extLst>
          </p:cNvPr>
          <p:cNvSpPr txBox="1"/>
          <p:nvPr/>
        </p:nvSpPr>
        <p:spPr>
          <a:xfrm>
            <a:off x="3027218" y="3255879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a-I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040CD4-D3A1-46A2-1E4E-7EEA0A7B73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29" t="16430" r="3267" b="5069"/>
          <a:stretch>
            <a:fillRect/>
          </a:stretch>
        </p:blipFill>
        <p:spPr>
          <a:xfrm>
            <a:off x="3078813" y="4258072"/>
            <a:ext cx="5237018" cy="188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802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</TotalTime>
  <Words>168</Words>
  <Application>Microsoft Office PowerPoint</Application>
  <PresentationFormat>Widescreen</PresentationFormat>
  <Paragraphs>46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等线</vt:lpstr>
      <vt:lpstr>黑体</vt:lpstr>
      <vt:lpstr>Abadi</vt:lpstr>
      <vt:lpstr>Arial</vt:lpstr>
      <vt:lpstr>Calibri</vt:lpstr>
      <vt:lpstr>Franklin Gothic Book</vt:lpstr>
      <vt:lpstr>Franklin Gothic Demi</vt:lpstr>
      <vt:lpstr>Wingdings</vt:lpstr>
      <vt:lpstr>Custom</vt:lpstr>
      <vt:lpstr>Matin Fazel M.Sc. Computer Science — Concordia University  Researcher in efficient AI systems for real-time multimedia, browser, and mobile deployment.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matin fazel</dc:creator>
  <cp:lastModifiedBy>matin fazel</cp:lastModifiedBy>
  <cp:revision>11</cp:revision>
  <dcterms:created xsi:type="dcterms:W3CDTF">2026-05-23T22:57:26Z</dcterms:created>
  <dcterms:modified xsi:type="dcterms:W3CDTF">2026-07-15T01:08:01Z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